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21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Mandaluyong City</c:v>
                  </c:pt>
                  <c:pt idx="1">
                    <c:v>Taguig City</c:v>
                  </c:pt>
                  <c:pt idx="2">
                    <c:v>Pasay City</c:v>
                  </c:pt>
                  <c:pt idx="3">
                    <c:v>Pasig City</c:v>
                  </c:pt>
                  <c:pt idx="4">
                    <c:v>Makati City</c:v>
                  </c:pt>
                  <c:pt idx="5">
                    <c:v>San Juan City</c:v>
                  </c:pt>
                  <c:pt idx="6">
                    <c:v>Santa Rosa</c:v>
                  </c:pt>
                  <c:pt idx="7">
                    <c:v>Quezon City</c:v>
                  </c:pt>
                  <c:pt idx="8">
                    <c:v>Tagaytay City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</c:v>
                </c:pt>
                <c:pt idx="1">
                  <c:v>4</c:v>
                </c:pt>
                <c:pt idx="2">
                  <c:v>3</c:v>
                </c:pt>
                <c:pt idx="3">
                  <c:v>3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121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121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1215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B1215"/>
                </a:solidFill>
                <a:latin typeface="Calibri"/>
              </a:rPr>
              <a:t>Cost for two (share of restaurants)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23744"/>
              </a:solidFill>
              <a:effectLst/>
            </c:spPr>
          </c:dPt>
          <c:dPt>
            <c:idx val="1"/>
            <c:bubble3D val="0"/>
            <c:spPr>
              <a:solidFill>
                <a:srgbClr val="B71C2B"/>
              </a:solidFill>
              <a:effectLst/>
            </c:spPr>
          </c:dPt>
          <c:dPt>
            <c:idx val="2"/>
            <c:bubble3D val="0"/>
            <c:spPr>
              <a:solidFill>
                <a:srgbClr val="F0828C"/>
              </a:solidFill>
              <a:effectLst/>
            </c:spPr>
          </c:dPt>
          <c:dPt>
            <c:idx val="3"/>
            <c:bubble3D val="0"/>
            <c:spPr>
              <a:solidFill>
                <a:srgbClr val="7A0F1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1200+</c:v>
                </c:pt>
                <c:pt idx="1">
                  <c:v>900-1200</c:v>
                </c:pt>
                <c:pt idx="2">
                  <c:v>600-900</c:v>
                </c:pt>
                <c:pt idx="3">
                  <c:v>300-600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9</c:v>
                </c:pt>
                <c:pt idx="1">
                  <c:v>6</c:v>
                </c:pt>
                <c:pt idx="2">
                  <c:v>6</c:v>
                </c:pt>
                <c:pt idx="3">
                  <c:v>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121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1215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B1215"/>
                </a:solidFill>
                <a:latin typeface="Calibri"/>
              </a:rPr>
              <a:t>Average rating by price range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21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Price 2</c:v>
                  </c:pt>
                  <c:pt idx="1">
                    <c:v>Price 3</c:v>
                  </c:pt>
                  <c:pt idx="2">
                    <c:v>Price 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4.5</c:v>
                </c:pt>
                <c:pt idx="1">
                  <c:v>4.4</c:v>
                </c:pt>
                <c:pt idx="2">
                  <c:v>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121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121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E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1215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B1215"/>
                </a:solidFill>
                <a:latin typeface="Calibri"/>
              </a:rPr>
              <a:t>Table booking availability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23744"/>
              </a:solidFill>
              <a:effectLst/>
            </c:spPr>
          </c:dPt>
          <c:dPt>
            <c:idx val="1"/>
            <c:bubble3D val="0"/>
            <c:spPr>
              <a:solidFill>
                <a:srgbClr val="2B121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Yes (14)</c:v>
                </c:pt>
                <c:pt idx="1">
                  <c:v>No (8)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14</c:v>
                </c:pt>
                <c:pt idx="1">
                  <c:v>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400">
              <a:solidFill>
                <a:srgbClr val="2B121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1215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B1215"/>
                </a:solidFill>
                <a:latin typeface="Calibri"/>
              </a:rPr>
              <a:t>Top cuisines (count)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21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Filipino</c:v>
                  </c:pt>
                  <c:pt idx="1">
                    <c:v>Filipino, Mexican</c:v>
                  </c:pt>
                  <c:pt idx="2">
                    <c:v>Japanese</c:v>
                  </c:pt>
                  <c:pt idx="3">
                    <c:v>French, Japanese, Desserts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121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121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</c:scaling>
        <c:delete val="0"/>
        <c:axPos val="b"/>
        <c:majorGridlines>
          <c:spPr>
            <a:ln w="6350" cap="flat">
              <a:solidFill>
                <a:srgbClr val="EE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2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Zomato Restaurant Analytics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Philippines dashboard summary: ratings, cities, cuisines, pricing and services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Zomato dataset and Power BI dashboard · 22 restaurants · 9 cities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 at a glance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but highly rated: 22 restaurants averaging 4.47 stars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Zomato dataset (Philippines) · Power BI dashboard</a:t>
            </a:r>
            <a:endParaRPr lang="en-US" sz="1000" dirty="0"/>
          </a:p>
        </p:txBody>
      </p:sp>
      <p:sp>
        <p:nvSpPr>
          <p:cNvPr id="5" name="Card Restaurants"/>
          <p:cNvSpPr/>
          <p:nvPr/>
        </p:nvSpPr>
        <p:spPr>
          <a:xfrm>
            <a:off x="457200" y="1645920"/>
            <a:ext cx="1536192" cy="2286000"/>
          </a:xfrm>
          <a:prstGeom prst="roundRect">
            <a:avLst>
              <a:gd name="adj" fmla="val 8929"/>
            </a:avLst>
          </a:prstGeom>
          <a:solidFill>
            <a:srgbClr val="FDEC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82880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6060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listed in the Philippines</a:t>
            </a:r>
            <a:endParaRPr lang="en-US" sz="1200" dirty="0"/>
          </a:p>
        </p:txBody>
      </p:sp>
      <p:sp>
        <p:nvSpPr>
          <p:cNvPr id="9" name="Card Avg rating"/>
          <p:cNvSpPr/>
          <p:nvPr/>
        </p:nvSpPr>
        <p:spPr>
          <a:xfrm>
            <a:off x="2130552" y="1645920"/>
            <a:ext cx="1536192" cy="2286000"/>
          </a:xfrm>
          <a:prstGeom prst="roundRect">
            <a:avLst>
              <a:gd name="adj" fmla="val 8929"/>
            </a:avLst>
          </a:prstGeom>
          <a:solidFill>
            <a:srgbClr val="FDEC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76272" y="182880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4.47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2176272" y="26060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221992" y="301752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5, very strong</a:t>
            </a:r>
            <a:endParaRPr lang="en-US" sz="1200" dirty="0"/>
          </a:p>
        </p:txBody>
      </p:sp>
      <p:sp>
        <p:nvSpPr>
          <p:cNvPr id="13" name="Card Cities"/>
          <p:cNvSpPr/>
          <p:nvPr/>
        </p:nvSpPr>
        <p:spPr>
          <a:xfrm>
            <a:off x="3803904" y="1645920"/>
            <a:ext cx="1536192" cy="2286000"/>
          </a:xfrm>
          <a:prstGeom prst="roundRect">
            <a:avLst>
              <a:gd name="adj" fmla="val 8929"/>
            </a:avLst>
          </a:prstGeom>
          <a:solidFill>
            <a:srgbClr val="FDEC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49624" y="182880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3849624" y="26060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895344" y="301752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Metro Manila</a:t>
            </a:r>
            <a:endParaRPr lang="en-US" sz="1200" dirty="0"/>
          </a:p>
        </p:txBody>
      </p:sp>
      <p:sp>
        <p:nvSpPr>
          <p:cNvPr id="17" name="Card Cuisines"/>
          <p:cNvSpPr/>
          <p:nvPr/>
        </p:nvSpPr>
        <p:spPr>
          <a:xfrm>
            <a:off x="5477256" y="1645920"/>
            <a:ext cx="1536192" cy="2286000"/>
          </a:xfrm>
          <a:prstGeom prst="roundRect">
            <a:avLst>
              <a:gd name="adj" fmla="val 8929"/>
            </a:avLst>
          </a:prstGeom>
          <a:solidFill>
            <a:srgbClr val="FDECE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522976" y="182880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5522976" y="26060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568696" y="301752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cuisine combinations</a:t>
            </a:r>
            <a:endParaRPr lang="en-US" sz="1200" dirty="0"/>
          </a:p>
        </p:txBody>
      </p:sp>
      <p:sp>
        <p:nvSpPr>
          <p:cNvPr id="21" name="Card Votes"/>
          <p:cNvSpPr/>
          <p:nvPr/>
        </p:nvSpPr>
        <p:spPr>
          <a:xfrm>
            <a:off x="7150608" y="1645920"/>
            <a:ext cx="1536192" cy="2286000"/>
          </a:xfrm>
          <a:prstGeom prst="roundRect">
            <a:avLst>
              <a:gd name="adj" fmla="val 8929"/>
            </a:avLst>
          </a:prstGeom>
          <a:solidFill>
            <a:srgbClr val="FDECE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96328" y="182880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8,963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7196328" y="26060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242048" y="301752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 votes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restaurant here rates Good or better; 12 of 22 are rated Excellent.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restaurants are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Mandaluyong and Taguig lead with 4 restaurants each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Zomato dataset (Philippines) · Power BI dashboard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7160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852160" y="15544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4 cities hold 14 of 22 restaurants (64%).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concentrated in Metro Manila business and mall districts.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Quezon City and Tagaytay have only 1 each: room to grow.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vs rating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prices do not mean better ratings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Zomato dataset (Philippines) · Power BI dashboard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7160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572000" y="137160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and table booking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online delivery at all; 64% accept table bookings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Zomato dataset (Philippines) · Power BI dashboard</a:t>
            </a:r>
            <a:endParaRPr lang="en-US" sz="1000" dirty="0"/>
          </a:p>
        </p:txBody>
      </p:sp>
      <p:sp>
        <p:nvSpPr>
          <p:cNvPr id="5" name="Delivery card"/>
          <p:cNvSpPr/>
          <p:nvPr/>
        </p:nvSpPr>
        <p:spPr>
          <a:xfrm>
            <a:off x="457200" y="1554480"/>
            <a:ext cx="3291840" cy="2926080"/>
          </a:xfrm>
          <a:prstGeom prst="roundRect">
            <a:avLst>
              <a:gd name="adj" fmla="val 4688"/>
            </a:avLst>
          </a:prstGeom>
          <a:solidFill>
            <a:srgbClr val="FDEC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830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online delivery (0 of 22)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83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full 9,551-restaurant dataset, 26% offer delivery.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114800" y="13716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2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rated and top cuisines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restaurants share the top rating of 4.9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Zomato dataset (Philippines) · Power BI dashboard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5120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82296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3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3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3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37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Silantro Fil-Mex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Pasig 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Spiral - Sofitel Philippine Plaza Manila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Pasay 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Mandaluyong 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Locavore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Pasig 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Petit Souffle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Makati 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2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5760720" y="1371600"/>
          <a:ext cx="3017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and next steps</a:t>
            </a:r>
            <a:endParaRPr lang="en-US" sz="3000" dirty="0"/>
          </a:p>
        </p:txBody>
      </p:sp>
      <p:sp>
        <p:nvSpPr>
          <p:cNvPr id="3" name="Insight 1"/>
          <p:cNvSpPr/>
          <p:nvPr/>
        </p:nvSpPr>
        <p:spPr>
          <a:xfrm>
            <a:off x="457200" y="109728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4A212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high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4.47 and 21 of 22 rated Very Good or Excellent.</a:t>
            </a:r>
            <a:endParaRPr lang="en-US" sz="1400" dirty="0"/>
          </a:p>
        </p:txBody>
      </p:sp>
      <p:sp>
        <p:nvSpPr>
          <p:cNvPr id="6" name="Insight 2"/>
          <p:cNvSpPr/>
          <p:nvPr/>
        </p:nvSpPr>
        <p:spPr>
          <a:xfrm>
            <a:off x="4663440" y="109728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4A21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46320" y="1234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not the driver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stay at 4.4 to 4.5 across all price ranges.</a:t>
            </a:r>
            <a:endParaRPr lang="en-US" sz="1400" dirty="0"/>
          </a:p>
        </p:txBody>
      </p:sp>
      <p:sp>
        <p:nvSpPr>
          <p:cNvPr id="9" name="Insight 3"/>
          <p:cNvSpPr/>
          <p:nvPr/>
        </p:nvSpPr>
        <p:spPr>
          <a:xfrm>
            <a:off x="457200" y="283464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4A21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971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gap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290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restaurant offers online delivery: the clearest opportunity.</a:t>
            </a:r>
            <a:endParaRPr lang="en-US" sz="1400" dirty="0"/>
          </a:p>
        </p:txBody>
      </p:sp>
      <p:sp>
        <p:nvSpPr>
          <p:cNvPr id="12" name="Insight 4"/>
          <p:cNvSpPr/>
          <p:nvPr/>
        </p:nvSpPr>
        <p:spPr>
          <a:xfrm>
            <a:off x="4663440" y="283464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4A21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2971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beyond Metro Manila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4290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listings outside the top 4 cities.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the full dataset has 9,551 restaurants in 15 countries with a 2.67 average rating, so this Philippines sample is far above the global norm.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Restaurant Analytics</dc:title>
  <dc:subject>PptxGenJS Presentation</dc:subject>
  <dc:creator>PptxGenJS</dc:creator>
  <cp:lastModifiedBy>PptxGenJS</cp:lastModifiedBy>
  <cp:revision>1</cp:revision>
  <dcterms:created xsi:type="dcterms:W3CDTF">2026-10-03T03:39:21Z</dcterms:created>
  <dcterms:modified xsi:type="dcterms:W3CDTF">2026-10-03T03:39:21Z</dcterms:modified>
</cp:coreProperties>
</file>